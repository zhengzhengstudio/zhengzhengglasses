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BFA"/>
              </a:gs>
              <a:gs pos="48000">
                <a:srgbClr val="EEF7F4"/>
              </a:gs>
              <a:gs pos="100000">
                <a:srgbClr val="F7F2EF"/>
              </a:gs>
            </a:gsLst>
            <a:lin ang="72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FF8F5"/>
              </a:gs>
              <a:gs pos="55000">
                <a:srgbClr val="FFFFFF"/>
              </a:gs>
              <a:gs pos="100000">
                <a:srgbClr val="F5EEE9"/>
              </a:gs>
            </a:gsLst>
            <a:lin ang="66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561975"/>
            <a:ext cx="361950" cy="19050"/>
          </a:xfrm>
          <a:prstGeom prst="rect">
            <a:avLst/>
          </a:prstGeom>
          <a:solidFill>
            <a:srgbClr val="E5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47750" y="5143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WAIC 2026 青少年 AI 应用实践案例</a:t>
            </a:r>
            <a:endParaRPr sz="975" b="1">
              <a:solidFill>
                <a:srgbClr val="E56F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1162050"/>
            <a:ext cx="4953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20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20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铮铮眼镜</a:t>
            </a:r>
            <a:endParaRPr sz="4200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1924050"/>
            <a:ext cx="533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在线试戴与配镜沟通平台</a:t>
            </a:r>
            <a:endParaRPr sz="1875" b="1">
              <a:solidFill>
                <a:srgbClr val="155F5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90550" y="2647950"/>
            <a:ext cx="5905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从人脸关键点采集、镜框试戴，到配镜报告和商家沟通，把“先试试看”变成有参数、有记录、能继续沟通的流程。</a:t>
            </a:r>
            <a:endParaRPr sz="1650" b="0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90550" y="4000500"/>
            <a:ext cx="1809750" cy="3238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CBDED9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4067175"/>
            <a:ext cx="1504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2F7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2F7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MediaPipe 人脸关键点</a:t>
            </a:r>
            <a:endParaRPr sz="940" b="1">
              <a:solidFill>
                <a:srgbClr val="2F7F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495550" y="4000500"/>
            <a:ext cx="1562100" cy="3238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CBDED9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647950" y="4067175"/>
            <a:ext cx="1257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2F7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2F7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80 款镜框索引库</a:t>
            </a:r>
            <a:endParaRPr sz="940" b="1">
              <a:solidFill>
                <a:srgbClr val="2F7F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152900" y="4000500"/>
            <a:ext cx="1790700" cy="323850"/>
          </a:xfrm>
          <a:prstGeom prst="rect">
            <a:avLst/>
          </a:prstGeom>
          <a:solidFill>
            <a:srgbClr val="FFFFFF">
              <a:alpha val="80000"/>
            </a:srgbClr>
          </a:solidFill>
          <a:ln w="9525">
            <a:solidFill>
              <a:srgbClr val="CBDED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305300" y="4067175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2F7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2F7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报告 / 心愿单 / 聊天</a:t>
            </a:r>
            <a:endParaRPr sz="940" b="1">
              <a:solidFill>
                <a:srgbClr val="2F7F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90550" y="5181600"/>
            <a:ext cx="5334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团队/学生：铮铮实验室</a:t>
            </a:r>
            <a:r>
              <a:rPr lang="en-US" sz="1275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/ </a:t>
            </a:r>
            <a:r>
              <a:rPr lang="zh-CN" altLang="en-US" sz="1275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刘曜进</a:t>
            </a:r>
            <a:endParaRPr sz="1275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275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项目状态：已上线 Demo，持续优化中</a:t>
            </a:r>
            <a:endParaRPr sz="1275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275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Demo：https://glasses.zhengzhengstudio.cn</a:t>
            </a:r>
            <a:endParaRPr sz="1275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10382250" y="876300"/>
            <a:ext cx="1676400" cy="1676400"/>
          </a:xfrm>
          <a:prstGeom prst="ellipse">
            <a:avLst/>
          </a:prstGeom>
          <a:solidFill>
            <a:srgbClr val="EAF6F2">
              <a:alpha val="66667"/>
            </a:srgbClr>
          </a:solidFill>
          <a:ln w="9525">
            <a:solidFill>
              <a:srgbClr val="D7EBE5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0658475" y="1200150"/>
            <a:ext cx="10668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95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</a:t>
            </a:r>
            <a:endParaRPr sz="1950" b="1">
              <a:solidFill>
                <a:srgbClr val="155F5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95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配镜</a:t>
            </a:r>
            <a:endParaRPr sz="1950" b="1">
              <a:solidFill>
                <a:srgbClr val="155F5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95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沟通</a:t>
            </a:r>
            <a:endParaRPr sz="1950" b="1">
              <a:solidFill>
                <a:srgbClr val="155F5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391400" y="819150"/>
            <a:ext cx="3429000" cy="4095750"/>
          </a:xfrm>
          <a:prstGeom prst="rect">
            <a:avLst/>
          </a:prstGeom>
          <a:solidFill>
            <a:srgbClr val="FFFFFF">
              <a:alpha val="84706"/>
            </a:srgbClr>
          </a:solidFill>
          <a:ln w="9525">
            <a:solidFill>
              <a:srgbClr val="C7DED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677150" y="11049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扫码查看 Demo</a:t>
            </a:r>
            <a:endParaRPr sz="1725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7650" y="1562100"/>
            <a:ext cx="2381250" cy="2381250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7677150" y="422910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glasses.zhengzhengstudio.cn</a:t>
            </a:r>
            <a:endParaRPr sz="105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5" y="2502535"/>
            <a:ext cx="1067435" cy="500380"/>
          </a:xfrm>
          <a:prstGeom prst="rect">
            <a:avLst/>
          </a:prstGeom>
        </p:spPr>
      </p:pic>
      <p:sp>
        <p:nvSpPr>
          <p:cNvPr id="24" name="矩形 23"/>
          <p:cNvSpPr>
            <a:spLocks noGrp="1"/>
          </p:cNvSpPr>
          <p:nvPr/>
        </p:nvSpPr>
        <p:spPr>
          <a:xfrm>
            <a:off x="552450" y="6515100"/>
            <a:ext cx="533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WAIC 2026 青少年 AI 应用实践案例 | 铮铮眼镜</a:t>
            </a:r>
            <a:endParaRPr sz="79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334750" y="64770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F7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F7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975" b="1">
              <a:solidFill>
                <a:srgbClr val="2F7F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BFA"/>
              </a:gs>
              <a:gs pos="48000">
                <a:srgbClr val="EEF7F4"/>
              </a:gs>
              <a:gs pos="100000">
                <a:srgbClr val="F7F2EF"/>
              </a:gs>
            </a:gsLst>
            <a:lin ang="72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504825"/>
            <a:ext cx="361950" cy="19050"/>
          </a:xfrm>
          <a:prstGeom prst="rect">
            <a:avLst/>
          </a:prstGeom>
          <a:solidFill>
            <a:srgbClr val="E5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47750" y="4572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问题不是“买眼镜”，而是试戴前的信息太少</a:t>
            </a:r>
            <a:endParaRPr sz="975" b="1">
              <a:solidFill>
                <a:srgbClr val="E56F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914400"/>
            <a:ext cx="8477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1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线下配镜前，用户和商家都在反复确认。</a:t>
            </a:r>
            <a:endParaRPr sz="3150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2266950"/>
            <a:ext cx="314325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2552700"/>
            <a:ext cx="2286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戴镜人士</a:t>
            </a:r>
            <a:endParaRPr sz="1875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3067050"/>
            <a:ext cx="685800" cy="38100"/>
          </a:xfrm>
          <a:prstGeom prst="rect">
            <a:avLst/>
          </a:prstGeom>
          <a:solidFill>
            <a:srgbClr val="E5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3390900"/>
            <a:ext cx="25717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不想专门出门，只想先知道自己适合哪类镜框；但线上图片很难判断脸宽、鼻梁、瞳距和风格是否合适。</a:t>
            </a:r>
            <a:endParaRPr sz="135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381500" y="2266950"/>
            <a:ext cx="3143250" cy="2476500"/>
          </a:xfrm>
          <a:prstGeom prst="rect">
            <a:avLst/>
          </a:prstGeom>
          <a:solidFill>
            <a:srgbClr val="EEF7F4"/>
          </a:solidFill>
          <a:ln w="9525">
            <a:solidFill>
              <a:srgbClr val="D7E3D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48200" y="2552700"/>
            <a:ext cx="2286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眼镜商家</a:t>
            </a:r>
            <a:endParaRPr sz="1875" b="1">
              <a:solidFill>
                <a:srgbClr val="155F5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48200" y="3067050"/>
            <a:ext cx="685800" cy="38100"/>
          </a:xfrm>
          <a:prstGeom prst="rect">
            <a:avLst/>
          </a:prstGeom>
          <a:solidFill>
            <a:srgbClr val="2F7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648200" y="3390900"/>
            <a:ext cx="25717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用户发来的照片和文字分散，缺少统一参数、偏好和风险提示，定制订单需要来回问很多次。</a:t>
            </a:r>
            <a:endParaRPr sz="135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096250" y="2266950"/>
            <a:ext cx="314325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362950" y="2552700"/>
            <a:ext cx="2286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沟通结果</a:t>
            </a:r>
            <a:endParaRPr sz="1875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362950" y="3067050"/>
            <a:ext cx="685800" cy="38100"/>
          </a:xfrm>
          <a:prstGeom prst="rect">
            <a:avLst/>
          </a:prstGeom>
          <a:solidFill>
            <a:srgbClr val="E5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362950" y="3390900"/>
            <a:ext cx="25717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“看起来好看”和“戴着舒服”之间缺少可复用记录，试错成本由用户和商家共同承担。</a:t>
            </a:r>
            <a:endParaRPr sz="135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57250" y="5429250"/>
            <a:ext cx="952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项目目标：先做一个能演示、能真实使用的网页，把采集、试戴、报告和沟通连成一个小闭环。</a:t>
            </a:r>
            <a:endParaRPr sz="1650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52450" y="6515100"/>
            <a:ext cx="533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WAIC 2026 青少年 AI 应用实践案例 | 铮铮眼镜</a:t>
            </a:r>
            <a:endParaRPr sz="79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1334750" y="64770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F7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F7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975" b="1">
              <a:solidFill>
                <a:srgbClr val="2F7F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BFA"/>
              </a:gs>
              <a:gs pos="48000">
                <a:srgbClr val="EEF7F4"/>
              </a:gs>
              <a:gs pos="100000">
                <a:srgbClr val="F7F2EF"/>
              </a:gs>
            </a:gsLst>
            <a:lin ang="72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504825"/>
            <a:ext cx="361950" cy="19050"/>
          </a:xfrm>
          <a:prstGeom prst="rect">
            <a:avLst/>
          </a:prstGeom>
          <a:solidFill>
            <a:srgbClr val="E5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47750" y="4572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解决方案</a:t>
            </a:r>
            <a:endParaRPr sz="975" b="1">
              <a:solidFill>
                <a:srgbClr val="E56F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838200"/>
            <a:ext cx="8191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1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把配镜前的四个动作放到同一条流程里。</a:t>
            </a:r>
            <a:endParaRPr sz="3150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2286000"/>
            <a:ext cx="238125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476500"/>
            <a:ext cx="60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2250" b="1">
              <a:solidFill>
                <a:srgbClr val="E56F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3086100"/>
            <a:ext cx="1952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建立临时或登录用户</a:t>
            </a:r>
            <a:endParaRPr sz="1575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3638550"/>
            <a:ext cx="1952625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可以匿名体验，也可以用主站账号登录保存数据。</a:t>
            </a:r>
            <a:endParaRPr sz="124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143250" y="3429000"/>
            <a:ext cx="514350" cy="28575"/>
          </a:xfrm>
          <a:prstGeom prst="rect">
            <a:avLst/>
          </a:prstGeom>
          <a:solidFill>
            <a:srgbClr val="2F7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524250" y="2286000"/>
            <a:ext cx="238125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733800" y="2476500"/>
            <a:ext cx="60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2250" b="1">
              <a:solidFill>
                <a:srgbClr val="E56F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733800" y="3086100"/>
            <a:ext cx="1952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采集脸部数据</a:t>
            </a:r>
            <a:endParaRPr sz="1575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733800" y="3638550"/>
            <a:ext cx="1952625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正脸照、摄像头、多角度动作，采集关键点和稳定帧。</a:t>
            </a:r>
            <a:endParaRPr sz="124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00750" y="3429000"/>
            <a:ext cx="514350" cy="28575"/>
          </a:xfrm>
          <a:prstGeom prst="rect">
            <a:avLst/>
          </a:prstGeom>
          <a:solidFill>
            <a:srgbClr val="2F7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381750" y="2286000"/>
            <a:ext cx="2381250" cy="2476500"/>
          </a:xfrm>
          <a:prstGeom prst="rect">
            <a:avLst/>
          </a:prstGeom>
          <a:solidFill>
            <a:srgbClr val="EEF7F4"/>
          </a:solidFill>
          <a:ln w="9525">
            <a:solidFill>
              <a:srgbClr val="D7E3D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591300" y="2476500"/>
            <a:ext cx="60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2250" b="1">
              <a:solidFill>
                <a:srgbClr val="E56F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591300" y="3086100"/>
            <a:ext cx="1952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试戴与筛选镜框</a:t>
            </a:r>
            <a:endParaRPr sz="1575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591300" y="3638550"/>
            <a:ext cx="1952625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实时叠加镜框，可手动缩放、调整位置、加入心愿单。</a:t>
            </a:r>
            <a:endParaRPr sz="124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858250" y="3429000"/>
            <a:ext cx="514350" cy="28575"/>
          </a:xfrm>
          <a:prstGeom prst="rect">
            <a:avLst/>
          </a:prstGeom>
          <a:solidFill>
            <a:srgbClr val="2F7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239250" y="2286000"/>
            <a:ext cx="238125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448800" y="2476500"/>
            <a:ext cx="60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2250" b="1">
              <a:solidFill>
                <a:srgbClr val="E56F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448800" y="3086100"/>
            <a:ext cx="1952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报告与商家沟通</a:t>
            </a:r>
            <a:endParaRPr sz="1575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448800" y="3638550"/>
            <a:ext cx="1952625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导出报告，把参数、验光单、心愿单发给商家继续确认。</a:t>
            </a:r>
            <a:endParaRPr sz="124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1050" y="5219700"/>
            <a:ext cx="9906000" cy="685800"/>
          </a:xfrm>
          <a:prstGeom prst="rect">
            <a:avLst/>
          </a:prstGeom>
          <a:solidFill>
            <a:srgbClr val="10232B"/>
          </a:solidFill>
          <a:ln w="9525">
            <a:solidFill>
              <a:srgbClr val="D7E3D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066800" y="5429250"/>
            <a:ext cx="933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不是替代医院验光，而是让配镜沟通更有依据：用户知道自己想试什么，商家拿到更完整的上下文。</a:t>
            </a:r>
            <a:endParaRPr sz="1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52450" y="6515100"/>
            <a:ext cx="533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WAIC 2026 青少年 AI 应用实践案例 | 铮铮眼镜</a:t>
            </a:r>
            <a:endParaRPr sz="79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1334750" y="64770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F7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F7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975" b="1">
              <a:solidFill>
                <a:srgbClr val="2F7F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BFA"/>
              </a:gs>
              <a:gs pos="48000">
                <a:srgbClr val="EEF7F4"/>
              </a:gs>
              <a:gs pos="100000">
                <a:srgbClr val="F7F2EF"/>
              </a:gs>
            </a:gsLst>
            <a:lin ang="72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504825"/>
            <a:ext cx="361950" cy="19050"/>
          </a:xfrm>
          <a:prstGeom prst="rect">
            <a:avLst/>
          </a:prstGeom>
          <a:solidFill>
            <a:srgbClr val="E5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47750" y="4572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与数据处理</a:t>
            </a:r>
            <a:endParaRPr sz="975" b="1">
              <a:solidFill>
                <a:srgbClr val="E56F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819150"/>
            <a:ext cx="8953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核心不是“生成一个好看的页面”，而是让页面会看人脸。</a:t>
            </a:r>
            <a:endParaRPr sz="3000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2133600"/>
            <a:ext cx="4857750" cy="3524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F"/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2171700" y="2590800"/>
            <a:ext cx="1905000" cy="2400300"/>
          </a:xfrm>
          <a:prstGeom prst="ellipse">
            <a:avLst/>
          </a:prstGeom>
          <a:solidFill>
            <a:srgbClr val="EAF6F2"/>
          </a:solidFill>
          <a:ln w="28575">
            <a:solidFill>
              <a:srgbClr val="2F7F73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981200" y="2857500"/>
            <a:ext cx="9525" cy="1924050"/>
          </a:xfrm>
          <a:prstGeom prst="rect">
            <a:avLst/>
          </a:prstGeom>
          <a:solidFill>
            <a:srgbClr val="B7D8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305050" y="2857500"/>
            <a:ext cx="9525" cy="1924050"/>
          </a:xfrm>
          <a:prstGeom prst="rect">
            <a:avLst/>
          </a:prstGeom>
          <a:solidFill>
            <a:srgbClr val="B7D8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628900" y="2857500"/>
            <a:ext cx="9525" cy="1924050"/>
          </a:xfrm>
          <a:prstGeom prst="rect">
            <a:avLst/>
          </a:prstGeom>
          <a:solidFill>
            <a:srgbClr val="B7D8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952750" y="2857500"/>
            <a:ext cx="9525" cy="1924050"/>
          </a:xfrm>
          <a:prstGeom prst="rect">
            <a:avLst/>
          </a:prstGeom>
          <a:solidFill>
            <a:srgbClr val="B7D8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276600" y="2857500"/>
            <a:ext cx="9525" cy="1924050"/>
          </a:xfrm>
          <a:prstGeom prst="rect">
            <a:avLst/>
          </a:prstGeom>
          <a:solidFill>
            <a:srgbClr val="B7D8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600450" y="2857500"/>
            <a:ext cx="9525" cy="1924050"/>
          </a:xfrm>
          <a:prstGeom prst="rect">
            <a:avLst/>
          </a:prstGeom>
          <a:solidFill>
            <a:srgbClr val="B7D8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924300" y="2857500"/>
            <a:ext cx="9525" cy="1924050"/>
          </a:xfrm>
          <a:prstGeom prst="rect">
            <a:avLst/>
          </a:prstGeom>
          <a:solidFill>
            <a:srgbClr val="B7D8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000250" y="3048000"/>
            <a:ext cx="2247900" cy="9525"/>
          </a:xfrm>
          <a:prstGeom prst="rect">
            <a:avLst/>
          </a:prstGeom>
          <a:solidFill>
            <a:srgbClr val="B7D8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000250" y="3371850"/>
            <a:ext cx="2247900" cy="9525"/>
          </a:xfrm>
          <a:prstGeom prst="rect">
            <a:avLst/>
          </a:prstGeom>
          <a:solidFill>
            <a:srgbClr val="B7D8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000250" y="3695700"/>
            <a:ext cx="2247900" cy="9525"/>
          </a:xfrm>
          <a:prstGeom prst="rect">
            <a:avLst/>
          </a:prstGeom>
          <a:solidFill>
            <a:srgbClr val="B7D8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000250" y="4019550"/>
            <a:ext cx="2247900" cy="9525"/>
          </a:xfrm>
          <a:prstGeom prst="rect">
            <a:avLst/>
          </a:prstGeom>
          <a:solidFill>
            <a:srgbClr val="B7D8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000250" y="4343400"/>
            <a:ext cx="2247900" cy="9525"/>
          </a:xfrm>
          <a:prstGeom prst="rect">
            <a:avLst/>
          </a:prstGeom>
          <a:solidFill>
            <a:srgbClr val="B7D8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2000250" y="4667250"/>
            <a:ext cx="2247900" cy="9525"/>
          </a:xfrm>
          <a:prstGeom prst="rect">
            <a:avLst/>
          </a:prstGeom>
          <a:solidFill>
            <a:srgbClr val="B7D8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2476500" y="3581400"/>
            <a:ext cx="495300" cy="361950"/>
          </a:xfrm>
          <a:prstGeom prst="ellipse">
            <a:avLst/>
          </a:prstGeom>
          <a:solidFill>
            <a:srgbClr val="000000">
              <a:alpha val="0"/>
            </a:srgbClr>
          </a:solidFill>
          <a:ln w="47625">
            <a:solidFill>
              <a:srgbClr val="10232B"/>
            </a:solidFill>
            <a:prstDash val="solid"/>
          </a:ln>
        </p:spPr>
      </p:sp>
      <p:sp>
        <p:nvSpPr>
          <p:cNvPr id="23" name="椭圆 22"/>
          <p:cNvSpPr>
            <a:spLocks noGrp="1"/>
          </p:cNvSpPr>
          <p:nvPr/>
        </p:nvSpPr>
        <p:spPr>
          <a:xfrm>
            <a:off x="3371850" y="3581400"/>
            <a:ext cx="495300" cy="361950"/>
          </a:xfrm>
          <a:prstGeom prst="ellipse">
            <a:avLst/>
          </a:prstGeom>
          <a:solidFill>
            <a:srgbClr val="000000">
              <a:alpha val="0"/>
            </a:srgbClr>
          </a:solidFill>
          <a:ln w="47625">
            <a:solidFill>
              <a:srgbClr val="10232B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2971800" y="3733800"/>
            <a:ext cx="400050" cy="47625"/>
          </a:xfrm>
          <a:prstGeom prst="rect">
            <a:avLst/>
          </a:prstGeom>
          <a:solidFill>
            <a:srgbClr val="1023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66800" y="501015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MediaPipe Face Landmarker</a:t>
            </a:r>
            <a:endParaRPr sz="1500" b="1">
              <a:solidFill>
                <a:srgbClr val="155F5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150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返回 468 个面部关键点</a:t>
            </a:r>
            <a:endParaRPr sz="1500" b="1">
              <a:solidFill>
                <a:srgbClr val="155F5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191250" y="2266950"/>
            <a:ext cx="47625" cy="438150"/>
          </a:xfrm>
          <a:prstGeom prst="rect">
            <a:avLst/>
          </a:prstGeom>
          <a:solidFill>
            <a:srgbClr val="E5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419850" y="21336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关键点</a:t>
            </a:r>
            <a:endParaRPr sz="1650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905750" y="2152650"/>
            <a:ext cx="3238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眼角、鼻梁、脸廓、嘴部等点位，用来估算眼镜贴合位置。</a:t>
            </a:r>
            <a:endParaRPr sz="124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191250" y="3086100"/>
            <a:ext cx="47625" cy="438150"/>
          </a:xfrm>
          <a:prstGeom prst="rect">
            <a:avLst/>
          </a:prstGeom>
          <a:solidFill>
            <a:srgbClr val="2F7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419850" y="29527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多角度</a:t>
            </a:r>
            <a:endParaRPr sz="1650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905750" y="2971800"/>
            <a:ext cx="3238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正脸、左右转、上下抬低、张嘴、眨眼，过滤过快完成的无效采集。</a:t>
            </a:r>
            <a:endParaRPr sz="124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191250" y="3905250"/>
            <a:ext cx="47625" cy="438150"/>
          </a:xfrm>
          <a:prstGeom prst="rect">
            <a:avLst/>
          </a:prstGeom>
          <a:solidFill>
            <a:srgbClr val="E5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419850" y="37719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配镜参数</a:t>
            </a:r>
            <a:endParaRPr sz="1650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905750" y="3790950"/>
            <a:ext cx="3238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输出瞳距、脸宽、建议镜圈宽度、鼻梁宽、移心量和镜腿建议。</a:t>
            </a:r>
            <a:endParaRPr sz="124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191250" y="4724400"/>
            <a:ext cx="47625" cy="438150"/>
          </a:xfrm>
          <a:prstGeom prst="rect">
            <a:avLst/>
          </a:prstGeom>
          <a:solidFill>
            <a:srgbClr val="2F7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419850" y="45910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试戴控制</a:t>
            </a:r>
            <a:endParaRPr sz="1650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905750" y="4610100"/>
            <a:ext cx="3238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支持自动缩放，也允许用户手动调大小和位置，解决镜框过大/过小。</a:t>
            </a:r>
            <a:endParaRPr sz="124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52450" y="6515100"/>
            <a:ext cx="533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WAIC 2026 青少年 AI 应用实践案例 | 铮铮眼镜</a:t>
            </a:r>
            <a:endParaRPr sz="79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1334750" y="64770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F7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F7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975" b="1">
              <a:solidFill>
                <a:srgbClr val="2F7F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BFA"/>
              </a:gs>
              <a:gs pos="48000">
                <a:srgbClr val="EEF7F4"/>
              </a:gs>
              <a:gs pos="100000">
                <a:srgbClr val="F7F2EF"/>
              </a:gs>
            </a:gsLst>
            <a:lin ang="72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504825"/>
            <a:ext cx="361950" cy="19050"/>
          </a:xfrm>
          <a:prstGeom prst="rect">
            <a:avLst/>
          </a:prstGeom>
          <a:solidFill>
            <a:srgbClr val="E5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47750" y="4572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产品当前完成度</a:t>
            </a:r>
            <a:endParaRPr sz="975" b="1">
              <a:solidFill>
                <a:srgbClr val="E56F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857250"/>
            <a:ext cx="8763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1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目前已经能跑通一个可演示的配镜闭环。</a:t>
            </a:r>
            <a:endParaRPr sz="3150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2190750"/>
            <a:ext cx="35242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24003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首页</a:t>
            </a:r>
            <a:endParaRPr sz="1800" b="1">
              <a:solidFill>
                <a:srgbClr val="155F5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2838450"/>
            <a:ext cx="2952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显示账号/临时用户、历史采集入口、报告和聊天入口。</a:t>
            </a:r>
            <a:endParaRPr sz="124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781550" y="2190750"/>
            <a:ext cx="35242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010150" y="24003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引导流程</a:t>
            </a:r>
            <a:endParaRPr sz="1800" b="1">
              <a:solidFill>
                <a:srgbClr val="155F5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010150" y="2838450"/>
            <a:ext cx="2952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分步完成登录、信息录入、多角度采集、试戴和报告。</a:t>
            </a:r>
            <a:endParaRPr sz="124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3762375"/>
            <a:ext cx="35242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971925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顾客聊天</a:t>
            </a:r>
            <a:endParaRPr sz="1800" b="1">
              <a:solidFill>
                <a:srgbClr val="155F5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14400" y="4410075"/>
            <a:ext cx="2952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发送验光单、心愿单、定制需求，并同步到服务器。</a:t>
            </a:r>
            <a:endParaRPr sz="124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781550" y="3762375"/>
            <a:ext cx="35242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010150" y="3971925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商家后台</a:t>
            </a:r>
            <a:endParaRPr sz="1800" b="1">
              <a:solidFill>
                <a:srgbClr val="155F5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010150" y="4410075"/>
            <a:ext cx="2952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上传镜框、查看顾客参数、处理订单和商家聊天。</a:t>
            </a:r>
            <a:endParaRPr sz="124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915400" y="1962150"/>
            <a:ext cx="2000250" cy="3048000"/>
          </a:xfrm>
          <a:prstGeom prst="rect">
            <a:avLst/>
          </a:prstGeom>
          <a:solidFill>
            <a:srgbClr val="10232B"/>
          </a:solidFill>
          <a:ln w="9525">
            <a:solidFill>
              <a:srgbClr val="D7E3D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182100" y="21907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镜框索引库</a:t>
            </a:r>
            <a:endParaRPr sz="17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182100" y="2686050"/>
            <a:ext cx="1524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B9F0D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050" b="1">
                <a:solidFill>
                  <a:srgbClr val="B9F0D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80 款</a:t>
            </a:r>
            <a:endParaRPr sz="4050" b="1">
              <a:solidFill>
                <a:srgbClr val="B9F0D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182100" y="3429000"/>
            <a:ext cx="1428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7EBE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D7EBE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JSON 拉取，便于继续增加商家镜框。</a:t>
            </a:r>
            <a:endParaRPr sz="1200" b="0">
              <a:solidFill>
                <a:srgbClr val="D7EBE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1850" y="4171950"/>
            <a:ext cx="273050" cy="81915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6855" y="4953000"/>
            <a:ext cx="1463040" cy="685800"/>
          </a:xfrm>
          <a:prstGeom prst="rect">
            <a:avLst/>
          </a:prstGeom>
        </p:spPr>
      </p:pic>
      <p:sp>
        <p:nvSpPr>
          <p:cNvPr id="25" name="矩形 24"/>
          <p:cNvSpPr>
            <a:spLocks noGrp="1"/>
          </p:cNvSpPr>
          <p:nvPr/>
        </p:nvSpPr>
        <p:spPr>
          <a:xfrm>
            <a:off x="552450" y="6515100"/>
            <a:ext cx="533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WAIC 2026 青少年 AI 应用实践案例 | 铮铮眼镜</a:t>
            </a:r>
            <a:endParaRPr sz="79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334750" y="64770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F7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F7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975" b="1">
              <a:solidFill>
                <a:srgbClr val="2F7F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BFA"/>
              </a:gs>
              <a:gs pos="48000">
                <a:srgbClr val="EEF7F4"/>
              </a:gs>
              <a:gs pos="100000">
                <a:srgbClr val="F7F2EF"/>
              </a:gs>
            </a:gsLst>
            <a:lin ang="72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504825"/>
            <a:ext cx="361950" cy="19050"/>
          </a:xfrm>
          <a:prstGeom prst="rect">
            <a:avLst/>
          </a:prstGeom>
          <a:solidFill>
            <a:srgbClr val="E5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47750" y="4572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真实反馈驱动迭代</a:t>
            </a:r>
            <a:endParaRPr sz="975" b="1">
              <a:solidFill>
                <a:srgbClr val="E56F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857250"/>
            <a:ext cx="9334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92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很多改动不是一次想出来的，是被真实使用暴露出来的。</a:t>
            </a:r>
            <a:endParaRPr sz="2925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2114550"/>
            <a:ext cx="10096500" cy="3829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23431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用户/同学反馈</a:t>
            </a:r>
            <a:endParaRPr sz="1500" b="1">
              <a:solidFill>
                <a:srgbClr val="E56F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000500" y="2343150"/>
            <a:ext cx="228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对应迭代</a:t>
            </a:r>
            <a:endParaRPr sz="1500" b="1">
              <a:solidFill>
                <a:srgbClr val="155F5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2743200"/>
            <a:ext cx="9144000" cy="9525"/>
          </a:xfrm>
          <a:prstGeom prst="rect">
            <a:avLst/>
          </a:prstGeom>
          <a:solidFill>
            <a:srgbClr val="E2EC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28700" y="28575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页面太杂乱</a:t>
            </a:r>
            <a:endParaRPr sz="1350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000500" y="2857500"/>
            <a:ext cx="619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拆成首页、onboard、customer、chat、merchant；把入口和操作流程分开。</a:t>
            </a:r>
            <a:endParaRPr sz="124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28700" y="3333750"/>
            <a:ext cx="9144000" cy="9525"/>
          </a:xfrm>
          <a:prstGeom prst="rect">
            <a:avLst/>
          </a:prstGeom>
          <a:solidFill>
            <a:srgbClr val="E2EC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028700" y="34480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镜框看不清/不显示</a:t>
            </a:r>
            <a:endParaRPr sz="1350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000500" y="3448050"/>
            <a:ext cx="619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改成 JSON 索引拉取，预留图片位置，分批展示，不一次铺满。</a:t>
            </a:r>
            <a:endParaRPr sz="124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28700" y="3924300"/>
            <a:ext cx="9144000" cy="9525"/>
          </a:xfrm>
          <a:prstGeom prst="rect">
            <a:avLst/>
          </a:prstGeom>
          <a:solidFill>
            <a:srgbClr val="E2EC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028700" y="40386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单帧试戴不准</a:t>
            </a:r>
            <a:endParaRPr sz="1350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000500" y="4038600"/>
            <a:ext cx="619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引入 MediaPipe 关键点对齐，加入手动缩放和位置调整。</a:t>
            </a:r>
            <a:endParaRPr sz="124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28700" y="4514850"/>
            <a:ext cx="9144000" cy="9525"/>
          </a:xfrm>
          <a:prstGeom prst="rect">
            <a:avLst/>
          </a:prstGeom>
          <a:solidFill>
            <a:srgbClr val="E2EC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28700" y="46291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缺少后续沟通</a:t>
            </a:r>
            <a:endParaRPr sz="1350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000500" y="4629150"/>
            <a:ext cx="619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心愿单、验光单、报告、聊天打包给商家，减少重复描述。</a:t>
            </a:r>
            <a:endParaRPr sz="124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28700" y="5105400"/>
            <a:ext cx="9144000" cy="9525"/>
          </a:xfrm>
          <a:prstGeom prst="rect">
            <a:avLst/>
          </a:prstGeom>
          <a:solidFill>
            <a:srgbClr val="E2EC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028700" y="52197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数据容易丢</a:t>
            </a:r>
            <a:endParaRPr sz="1350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000500" y="5219700"/>
            <a:ext cx="619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本地缓存之外接入 server，同步失败时再降级到本地。</a:t>
            </a:r>
            <a:endParaRPr sz="124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52450" y="6515100"/>
            <a:ext cx="533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WAIC 2026 青少年 AI 应用实践案例 | 铮铮眼镜</a:t>
            </a:r>
            <a:endParaRPr sz="79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334750" y="64770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F7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F7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975" b="1">
              <a:solidFill>
                <a:srgbClr val="2F7F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BFA"/>
              </a:gs>
              <a:gs pos="48000">
                <a:srgbClr val="EEF7F4"/>
              </a:gs>
              <a:gs pos="100000">
                <a:srgbClr val="F7F2EF"/>
              </a:gs>
            </a:gsLst>
            <a:lin ang="72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504825"/>
            <a:ext cx="361950" cy="19050"/>
          </a:xfrm>
          <a:prstGeom prst="rect">
            <a:avLst/>
          </a:prstGeom>
          <a:solidFill>
            <a:srgbClr val="E5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47750" y="4572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真实用户、交付与影响</a:t>
            </a:r>
            <a:endParaRPr sz="975" b="1">
              <a:solidFill>
                <a:srgbClr val="E56F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857250"/>
            <a:ext cx="8953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7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7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现在是可上线演示的 Demo，已经进入小范围试用。</a:t>
            </a:r>
            <a:endParaRPr sz="3075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2247900"/>
            <a:ext cx="3048000" cy="2914650"/>
          </a:xfrm>
          <a:prstGeom prst="rect">
            <a:avLst/>
          </a:prstGeom>
          <a:solidFill>
            <a:srgbClr val="10232B"/>
          </a:solidFill>
          <a:ln w="9525">
            <a:solidFill>
              <a:srgbClr val="D7E3D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251460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已上线</a:t>
            </a:r>
            <a:endParaRPr sz="20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90600" y="3086100"/>
            <a:ext cx="723900" cy="38100"/>
          </a:xfrm>
          <a:prstGeom prst="rect">
            <a:avLst/>
          </a:prstGeom>
          <a:solidFill>
            <a:srgbClr val="B9F0D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" y="3409950"/>
            <a:ext cx="2476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5" b="0">
                <a:solidFill>
                  <a:srgbClr val="D7EBE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15" b="0">
                <a:solidFill>
                  <a:srgbClr val="D7EBE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网站 Demo 可访问，核心页面和主要流程可演示。</a:t>
            </a:r>
            <a:endParaRPr sz="1315" b="0">
              <a:solidFill>
                <a:srgbClr val="D7EBE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90600" y="4457700"/>
            <a:ext cx="2476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1">
                <a:solidFill>
                  <a:srgbClr val="B9F0D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1">
                <a:solidFill>
                  <a:srgbClr val="B9F0D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https://glasses.zhengzhengstudio.cn</a:t>
            </a:r>
            <a:endParaRPr sz="1165" b="1">
              <a:solidFill>
                <a:srgbClr val="B9F0D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248150" y="2247900"/>
            <a:ext cx="3048000" cy="29146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514850" y="251460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真实反馈</a:t>
            </a:r>
            <a:endParaRPr sz="2025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514850" y="3086100"/>
            <a:ext cx="723900" cy="38100"/>
          </a:xfrm>
          <a:prstGeom prst="rect">
            <a:avLst/>
          </a:prstGeom>
          <a:solidFill>
            <a:srgbClr val="E5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514850" y="3409950"/>
            <a:ext cx="2476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5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15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同学、家人和身边用户试用后反馈了布局、镜框、单帧对齐、验光单等问题。</a:t>
            </a:r>
            <a:endParaRPr sz="1315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514850" y="4457700"/>
            <a:ext cx="2476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这些反馈已经转化为多轮版本修改。</a:t>
            </a:r>
            <a:endParaRPr sz="1165" b="1">
              <a:solidFill>
                <a:srgbClr val="155F5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772400" y="2247900"/>
            <a:ext cx="3048000" cy="29146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039100" y="251460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真实场景</a:t>
            </a:r>
            <a:endParaRPr sz="2025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039100" y="3086100"/>
            <a:ext cx="723900" cy="38100"/>
          </a:xfrm>
          <a:prstGeom prst="rect">
            <a:avLst/>
          </a:prstGeom>
          <a:solidFill>
            <a:srgbClr val="E5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039100" y="3409950"/>
            <a:ext cx="2476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5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15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目标场景不是炫技，而是线上挑框、定制沟通和商家接单前的信息整理。</a:t>
            </a:r>
            <a:endParaRPr sz="1315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039100" y="4457700"/>
            <a:ext cx="2476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暂未商业交付，仍在完善。</a:t>
            </a:r>
            <a:endParaRPr sz="1165" b="1">
              <a:solidFill>
                <a:srgbClr val="155F5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00100" y="5657850"/>
            <a:ext cx="971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20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*</a:t>
            </a:r>
            <a:r>
              <a:rPr sz="120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目前不写夸张下载量或商业效果，评审材料中保持“已上线 Demo + 小范围真实试用 + 持续迭代”的真实口径。</a:t>
            </a:r>
            <a:endParaRPr sz="120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515100"/>
            <a:ext cx="533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WAIC 2026 青少年 AI 应用实践案例 | 铮铮眼镜</a:t>
            </a:r>
            <a:endParaRPr sz="79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334750" y="64770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F7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F7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</a:t>
            </a:r>
            <a:endParaRPr sz="975" b="1">
              <a:solidFill>
                <a:srgbClr val="2F7F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BFA"/>
              </a:gs>
              <a:gs pos="48000">
                <a:srgbClr val="EEF7F4"/>
              </a:gs>
              <a:gs pos="100000">
                <a:srgbClr val="F7F2EF"/>
              </a:gs>
            </a:gsLst>
            <a:lin ang="72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504825"/>
            <a:ext cx="361950" cy="19050"/>
          </a:xfrm>
          <a:prstGeom prst="rect">
            <a:avLst/>
          </a:prstGeom>
          <a:solidFill>
            <a:srgbClr val="E5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47750" y="4572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学生真实贡献</a:t>
            </a:r>
            <a:endParaRPr sz="975" b="1">
              <a:solidFill>
                <a:srgbClr val="E56F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857250"/>
            <a:ext cx="10001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从想法、页面、算法接入到反复改版，学生本人参与了完整产品过程。</a:t>
            </a:r>
            <a:endParaRPr sz="2850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2286000"/>
            <a:ext cx="4953000" cy="3371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038850" y="2286000"/>
            <a:ext cx="4953000" cy="3371850"/>
          </a:xfrm>
          <a:prstGeom prst="rect">
            <a:avLst/>
          </a:prstGeom>
          <a:solidFill>
            <a:srgbClr val="EEF7F4"/>
          </a:solidFill>
          <a:ln w="9525">
            <a:solidFill>
              <a:srgbClr val="D7E3DF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66800" y="257175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产品与前端</a:t>
            </a:r>
            <a:endParaRPr sz="1875" b="1">
              <a:solidFill>
                <a:srgbClr val="155F5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381750" y="257175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算法接入与迭代</a:t>
            </a:r>
            <a:endParaRPr sz="1875" b="1">
              <a:solidFill>
                <a:srgbClr val="155F5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66800" y="31242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</a:t>
            </a:r>
            <a:endParaRPr sz="1350" b="1">
              <a:solidFill>
                <a:srgbClr val="E56F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447800" y="3124200"/>
            <a:ext cx="3714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提出“在线挑镜框 + 商家接单 + 定制沟通”的项目方向</a:t>
            </a:r>
            <a:endParaRPr sz="124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66800" y="36576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2.</a:t>
            </a:r>
            <a:endParaRPr sz="1350" b="1">
              <a:solidFill>
                <a:srgbClr val="E56F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447800" y="3657600"/>
            <a:ext cx="3714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梳理顾客、商家和聊天三条使用路径</a:t>
            </a:r>
            <a:endParaRPr sz="124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66800" y="41910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3.</a:t>
            </a:r>
            <a:endParaRPr sz="1350" b="1">
              <a:solidFill>
                <a:srgbClr val="E56F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447800" y="4191000"/>
            <a:ext cx="3714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制作首页、分步引导、顾客试戴、商家后台等页面</a:t>
            </a:r>
            <a:endParaRPr sz="124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66800" y="47244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4.</a:t>
            </a:r>
            <a:endParaRPr sz="1350" b="1">
              <a:solidFill>
                <a:srgbClr val="E56F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447800" y="4724400"/>
            <a:ext cx="3714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接入 MediaPipe 人脸关键点，开发多角度采集和参数计算</a:t>
            </a:r>
            <a:endParaRPr sz="124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81750" y="31242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</a:t>
            </a:r>
            <a:endParaRPr sz="1350" b="1">
              <a:solidFill>
                <a:srgbClr val="E56F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762750" y="3124200"/>
            <a:ext cx="3714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整理 80 款镜框索引和图片资产，支持后续商家继续添加</a:t>
            </a:r>
            <a:endParaRPr sz="124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381750" y="36576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2.</a:t>
            </a:r>
            <a:endParaRPr sz="1350" b="1">
              <a:solidFill>
                <a:srgbClr val="E56F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762750" y="3657600"/>
            <a:ext cx="3714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根据同学反馈持续调整布局、试戴、报告、聊天和心愿单</a:t>
            </a:r>
            <a:endParaRPr sz="124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81750" y="41910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3.</a:t>
            </a:r>
            <a:endParaRPr sz="1350" b="1">
              <a:solidFill>
                <a:srgbClr val="E56F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762750" y="4191000"/>
            <a:ext cx="3714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实现报告导出、JSON 数据、验光单、服务器同步与本地缓存</a:t>
            </a:r>
            <a:endParaRPr sz="124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381750" y="47244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4.</a:t>
            </a:r>
            <a:endParaRPr sz="1350" b="1">
              <a:solidFill>
                <a:srgbClr val="E56F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762750" y="4724400"/>
            <a:ext cx="3714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记录问题并继续优化准确率、商家上传镜框适配和响应式体验</a:t>
            </a:r>
            <a:endParaRPr sz="124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52450" y="6515100"/>
            <a:ext cx="533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WAIC 2026 青少年 AI 应用实践案例 | 铮铮眼镜</a:t>
            </a:r>
            <a:endParaRPr sz="79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334750" y="64770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F7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F7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</a:t>
            </a:r>
            <a:endParaRPr sz="975" b="1">
              <a:solidFill>
                <a:srgbClr val="2F7F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BFA"/>
              </a:gs>
              <a:gs pos="48000">
                <a:srgbClr val="EEF7F4"/>
              </a:gs>
              <a:gs pos="100000">
                <a:srgbClr val="F7F2EF"/>
              </a:gs>
            </a:gsLst>
            <a:lin ang="72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504825"/>
            <a:ext cx="361950" cy="19050"/>
          </a:xfrm>
          <a:prstGeom prst="rect">
            <a:avLst/>
          </a:prstGeom>
          <a:solidFill>
            <a:srgbClr val="E5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47750" y="4572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WAIC 申报表关键信息</a:t>
            </a:r>
            <a:endParaRPr sz="975" b="1">
              <a:solidFill>
                <a:srgbClr val="E56F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838200"/>
            <a:ext cx="9334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92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申报文字保持真实，不把 Demo 包装成已经规模化运营。</a:t>
            </a:r>
            <a:endParaRPr sz="2925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2095500"/>
            <a:ext cx="10096500" cy="3562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66800" y="2714625"/>
            <a:ext cx="9144000" cy="9525"/>
          </a:xfrm>
          <a:prstGeom prst="rect">
            <a:avLst/>
          </a:prstGeom>
          <a:solidFill>
            <a:srgbClr val="E2EC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66800" y="236220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项目名称</a:t>
            </a:r>
            <a:endParaRPr sz="1240" b="1">
              <a:solidFill>
                <a:srgbClr val="155F5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143250" y="2362200"/>
            <a:ext cx="7048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1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铮铮眼镜：在线试戴与配镜沟通平台</a:t>
            </a:r>
            <a:endParaRPr sz="1315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66800" y="3248025"/>
            <a:ext cx="9144000" cy="9525"/>
          </a:xfrm>
          <a:prstGeom prst="rect">
            <a:avLst/>
          </a:prstGeom>
          <a:solidFill>
            <a:srgbClr val="E2EC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9560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学生/团队</a:t>
            </a:r>
            <a:endParaRPr sz="1240" b="1">
              <a:solidFill>
                <a:srgbClr val="155F5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143250" y="2895600"/>
            <a:ext cx="7048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5" b="0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15" b="0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铮铮实验室 / 学生姓名或展示昵称待补</a:t>
            </a:r>
            <a:endParaRPr sz="1315" b="0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3781425"/>
            <a:ext cx="9144000" cy="9525"/>
          </a:xfrm>
          <a:prstGeom prst="rect">
            <a:avLst/>
          </a:prstGeom>
          <a:solidFill>
            <a:srgbClr val="E2EC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66800" y="342900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年级/学校/城市</a:t>
            </a:r>
            <a:endParaRPr sz="1240" b="1">
              <a:solidFill>
                <a:srgbClr val="155F5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143250" y="3429000"/>
            <a:ext cx="7048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5" b="0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15" b="0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按真实信息填写</a:t>
            </a:r>
            <a:endParaRPr sz="1315" b="0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66800" y="4314825"/>
            <a:ext cx="9144000" cy="9525"/>
          </a:xfrm>
          <a:prstGeom prst="rect">
            <a:avLst/>
          </a:prstGeom>
          <a:solidFill>
            <a:srgbClr val="E2EC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066800" y="396240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团队人数</a:t>
            </a:r>
            <a:endParaRPr sz="1240" b="1">
              <a:solidFill>
                <a:srgbClr val="155F5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143250" y="3962400"/>
            <a:ext cx="7048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5" b="0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15" b="0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1.0</a:t>
            </a:r>
            <a:endParaRPr sz="1315" b="0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66800" y="4848225"/>
            <a:ext cx="9144000" cy="9525"/>
          </a:xfrm>
          <a:prstGeom prst="rect">
            <a:avLst/>
          </a:prstGeom>
          <a:solidFill>
            <a:srgbClr val="E2EC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66800" y="449580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Demo 链接</a:t>
            </a:r>
            <a:endParaRPr sz="1240" b="1">
              <a:solidFill>
                <a:srgbClr val="155F5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143250" y="4495800"/>
            <a:ext cx="7048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5" b="0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15" b="0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https://glasses.zhengzhengstudio.cn</a:t>
            </a:r>
            <a:endParaRPr sz="1315" b="0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66800" y="5381625"/>
            <a:ext cx="9144000" cy="9525"/>
          </a:xfrm>
          <a:prstGeom prst="rect">
            <a:avLst/>
          </a:prstGeom>
          <a:solidFill>
            <a:srgbClr val="E2EC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66800" y="502920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1">
                <a:solidFill>
                  <a:srgbClr val="155F5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当前状态</a:t>
            </a:r>
            <a:endParaRPr sz="1240" b="1">
              <a:solidFill>
                <a:srgbClr val="155F5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143250" y="5029200"/>
            <a:ext cx="7048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15" b="0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15" b="0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已上线 Demo，核心流程可演示，正在小范围试用和持续优化</a:t>
            </a:r>
            <a:endParaRPr sz="1315" b="0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905500"/>
            <a:ext cx="952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真实用户/影响建议写法：已有可访问演示站，已邀请身边同学和家人试用，收到并修复多项反馈；暂未商业交付。</a:t>
            </a:r>
            <a:endParaRPr sz="124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52450" y="6515100"/>
            <a:ext cx="533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WAIC 2026 青少年 AI 应用实践案例 | 铮铮眼镜</a:t>
            </a:r>
            <a:endParaRPr sz="79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334750" y="64770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F7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F7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09</a:t>
            </a:r>
            <a:endParaRPr sz="975" b="1">
              <a:solidFill>
                <a:srgbClr val="2F7F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BFA"/>
              </a:gs>
              <a:gs pos="48000">
                <a:srgbClr val="EEF7F4"/>
              </a:gs>
              <a:gs pos="100000">
                <a:srgbClr val="F7F2EF"/>
              </a:gs>
            </a:gsLst>
            <a:lin ang="72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504825"/>
            <a:ext cx="361950" cy="19050"/>
          </a:xfrm>
          <a:prstGeom prst="rect">
            <a:avLst/>
          </a:prstGeom>
          <a:solidFill>
            <a:srgbClr val="E5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47750" y="4572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E56F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下一步</a:t>
            </a:r>
            <a:endParaRPr sz="975" b="1">
              <a:solidFill>
                <a:srgbClr val="E56F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838200"/>
            <a:ext cx="8953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继续把它从“能演示”推进到“多人能稳定使用”。</a:t>
            </a:r>
            <a:endParaRPr sz="3000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171700"/>
            <a:ext cx="43434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2400300"/>
            <a:ext cx="38100" cy="552450"/>
          </a:xfrm>
          <a:prstGeom prst="rect">
            <a:avLst/>
          </a:prstGeom>
          <a:solidFill>
            <a:srgbClr val="E5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3812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准确率</a:t>
            </a:r>
            <a:endParaRPr sz="1725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00150" y="276225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85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85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提高 MediaPipe 参数稳定性，区分正式测量和体验估算。</a:t>
            </a:r>
            <a:endParaRPr sz="1185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829300" y="2171700"/>
            <a:ext cx="43434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038850" y="2400300"/>
            <a:ext cx="38100" cy="552450"/>
          </a:xfrm>
          <a:prstGeom prst="rect">
            <a:avLst/>
          </a:prstGeom>
          <a:solidFill>
            <a:srgbClr val="2F7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248400" y="23812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商家镜框</a:t>
            </a:r>
            <a:endParaRPr sz="1725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248400" y="276225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85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85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让商家上传镜框后能自动裁剪、定位、标注尺寸并进入索引。</a:t>
            </a:r>
            <a:endParaRPr sz="1185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81050" y="3600450"/>
            <a:ext cx="43434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90600" y="3829050"/>
            <a:ext cx="38100" cy="552450"/>
          </a:xfrm>
          <a:prstGeom prst="rect">
            <a:avLst/>
          </a:prstGeom>
          <a:solidFill>
            <a:srgbClr val="E5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200150" y="38100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聊天协作</a:t>
            </a:r>
            <a:endParaRPr sz="1725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200150" y="41910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85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85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完善实时收发、商家工具、验光单和定制单模板。</a:t>
            </a:r>
            <a:endParaRPr sz="1185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829300" y="3600450"/>
            <a:ext cx="43434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038850" y="3829050"/>
            <a:ext cx="38100" cy="552450"/>
          </a:xfrm>
          <a:prstGeom prst="rect">
            <a:avLst/>
          </a:prstGeom>
          <a:solidFill>
            <a:srgbClr val="2F7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248400" y="38100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1023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隐私与数据</a:t>
            </a:r>
            <a:endParaRPr sz="1725" b="1">
              <a:solidFill>
                <a:srgbClr val="1023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48400" y="41910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85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85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服务器保存关键记录，本地只做缓存；用户可导出和删除数据。</a:t>
            </a:r>
            <a:endParaRPr sz="1185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5219700"/>
            <a:ext cx="9848850" cy="723900"/>
          </a:xfrm>
          <a:prstGeom prst="rect">
            <a:avLst/>
          </a:prstGeom>
          <a:solidFill>
            <a:srgbClr val="10232B"/>
          </a:solidFill>
          <a:ln w="9525">
            <a:solidFill>
              <a:srgbClr val="D7E3D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66800" y="54292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9F0D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B9F0D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Demo 地址</a:t>
            </a:r>
            <a:endParaRPr sz="1350" b="1">
              <a:solidFill>
                <a:srgbClr val="B9F0D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324100" y="5410200"/>
            <a:ext cx="476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https://glasses.zhengzhengstudio.cn</a:t>
            </a:r>
            <a:endParaRPr sz="15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5143500"/>
            <a:ext cx="876300" cy="87630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925" y="5238750"/>
            <a:ext cx="1422400" cy="66675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552450" y="6515100"/>
            <a:ext cx="533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5F6F7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WAIC 2026 青少年 AI 应用实践案例 | 铮铮眼镜</a:t>
            </a:r>
            <a:endParaRPr sz="790" b="0">
              <a:solidFill>
                <a:srgbClr val="5F6F7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1334750" y="647700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F7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F7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</a:t>
            </a:r>
            <a:endParaRPr sz="975" b="1">
              <a:solidFill>
                <a:srgbClr val="2F7F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BFA"/>
              </a:gs>
              <a:gs pos="48000">
                <a:srgbClr val="EEF7F4"/>
              </a:gs>
              <a:gs pos="100000">
                <a:srgbClr val="F7F2EF"/>
              </a:gs>
            </a:gsLst>
            <a:lin ang="72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文本框 1"/>
          <p:cNvSpPr txBox="1"/>
          <p:nvPr/>
        </p:nvSpPr>
        <p:spPr>
          <a:xfrm>
            <a:off x="1904365" y="2306320"/>
            <a:ext cx="838390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0">
                <a:latin typeface="文道潮黑体" panose="02010600040101010101" charset="-122"/>
                <a:ea typeface="文道潮黑体" panose="02010600040101010101" charset="-122"/>
              </a:rPr>
              <a:t>感谢观看！</a:t>
            </a:r>
            <a:endParaRPr lang="zh-CN" altLang="en-US" sz="14000">
              <a:latin typeface="文道潮黑体" panose="02010600040101010101" charset="-122"/>
              <a:ea typeface="文道潮黑体" panose="0201060004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2535</Words>
  <Application>WPS 演示</Application>
  <PresentationFormat>Converted Presentation</PresentationFormat>
  <Paragraphs>311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宋体</vt:lpstr>
      <vt:lpstr>Wingdings</vt:lpstr>
      <vt:lpstr>PingFang SC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华文楷体</vt:lpstr>
      <vt:lpstr>XiaoXueShengShouXieZiTi</vt:lpstr>
      <vt:lpstr>文道潮黑体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铮铮</cp:lastModifiedBy>
  <cp:revision>2</cp:revision>
  <dcterms:created xsi:type="dcterms:W3CDTF">2026-05-20T05:15:30Z</dcterms:created>
  <dcterms:modified xsi:type="dcterms:W3CDTF">2026-05-20T05:15:30Z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1EAD9B3AF2EE5A2972430D6AA4D400C5_43</vt:lpwstr>
  </property>
  <property fmtid="{D5CDD505-2E9C-101B-9397-08002B2CF9AE}" pid="3" name="KSOProductBuildVer">
    <vt:lpwstr>2052-5.5.1.7991</vt:lpwstr>
  </property>
</Properties>
</file>